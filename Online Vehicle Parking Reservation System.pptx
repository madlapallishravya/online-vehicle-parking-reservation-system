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82" r:id="rId3"/>
    <p:sldId id="285" r:id="rId4"/>
    <p:sldId id="279" r:id="rId5"/>
    <p:sldId id="286" r:id="rId6"/>
    <p:sldId id="287" r:id="rId7"/>
    <p:sldId id="288" r:id="rId8"/>
    <p:sldId id="274" r:id="rId9"/>
    <p:sldId id="278" r:id="rId10"/>
    <p:sldId id="283" r:id="rId11"/>
    <p:sldId id="267" r:id="rId12"/>
    <p:sldId id="269" r:id="rId13"/>
    <p:sldId id="268" r:id="rId14"/>
    <p:sldId id="262" r:id="rId15"/>
    <p:sldId id="263" r:id="rId16"/>
    <p:sldId id="284" r:id="rId17"/>
    <p:sldId id="290" r:id="rId18"/>
    <p:sldId id="291" r:id="rId19"/>
    <p:sldId id="289" r:id="rId20"/>
    <p:sldId id="273" r:id="rId21"/>
    <p:sldId id="276" r:id="rId22"/>
    <p:sldId id="292" r:id="rId23"/>
    <p:sldId id="266" r:id="rId24"/>
  </p:sldIdLst>
  <p:sldSz cx="12190413" cy="6859588"/>
  <p:notesSz cx="9144000" cy="6858000"/>
  <p:defaultTextStyle>
    <a:defPPr>
      <a:defRPr lang="en-US"/>
    </a:defPPr>
    <a:lvl1pPr marL="0" algn="l" defTabSz="1140714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70357" algn="l" defTabSz="1140714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140714" algn="l" defTabSz="1140714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711071" algn="l" defTabSz="1140714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281428" algn="l" defTabSz="1140714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851785" algn="l" defTabSz="1140714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422142" algn="l" defTabSz="1140714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992499" algn="l" defTabSz="1140714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562856" algn="l" defTabSz="1140714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08" autoAdjust="0"/>
  </p:normalViewPr>
  <p:slideViewPr>
    <p:cSldViewPr>
      <p:cViewPr varScale="1">
        <p:scale>
          <a:sx n="76" d="100"/>
          <a:sy n="76" d="100"/>
        </p:scale>
        <p:origin x="43" y="43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C3857-E8B3-46BB-B517-D78932CDB29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E6B5B-1A49-425E-9B3F-E0512C342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490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E6B5B-1A49-425E-9B3F-E0512C342F3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695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282" y="2130920"/>
            <a:ext cx="10361851" cy="1470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0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1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1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21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24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60" y="4407921"/>
            <a:ext cx="10361851" cy="1362390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60" y="2907387"/>
            <a:ext cx="10361851" cy="1500534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357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07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107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1428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178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2142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249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285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22" y="1600573"/>
            <a:ext cx="5384099" cy="452701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94" y="1600573"/>
            <a:ext cx="5384099" cy="452701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2" y="1535469"/>
            <a:ext cx="5386216" cy="63991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357" indent="0">
              <a:buNone/>
              <a:defRPr sz="2500" b="1"/>
            </a:lvl2pPr>
            <a:lvl3pPr marL="1140714" indent="0">
              <a:buNone/>
              <a:defRPr sz="2200" b="1"/>
            </a:lvl3pPr>
            <a:lvl4pPr marL="1711071" indent="0">
              <a:buNone/>
              <a:defRPr sz="2000" b="1"/>
            </a:lvl4pPr>
            <a:lvl5pPr marL="2281428" indent="0">
              <a:buNone/>
              <a:defRPr sz="2000" b="1"/>
            </a:lvl5pPr>
            <a:lvl6pPr marL="2851785" indent="0">
              <a:buNone/>
              <a:defRPr sz="2000" b="1"/>
            </a:lvl6pPr>
            <a:lvl7pPr marL="3422142" indent="0">
              <a:buNone/>
              <a:defRPr sz="2000" b="1"/>
            </a:lvl7pPr>
            <a:lvl8pPr marL="3992499" indent="0">
              <a:buNone/>
              <a:defRPr sz="2000" b="1"/>
            </a:lvl8pPr>
            <a:lvl9pPr marL="4562856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22" y="2175379"/>
            <a:ext cx="5386216" cy="3952203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357" indent="0">
              <a:buNone/>
              <a:defRPr sz="2500" b="1"/>
            </a:lvl2pPr>
            <a:lvl3pPr marL="1140714" indent="0">
              <a:buNone/>
              <a:defRPr sz="2200" b="1"/>
            </a:lvl3pPr>
            <a:lvl4pPr marL="1711071" indent="0">
              <a:buNone/>
              <a:defRPr sz="2000" b="1"/>
            </a:lvl4pPr>
            <a:lvl5pPr marL="2281428" indent="0">
              <a:buNone/>
              <a:defRPr sz="2000" b="1"/>
            </a:lvl5pPr>
            <a:lvl6pPr marL="2851785" indent="0">
              <a:buNone/>
              <a:defRPr sz="2000" b="1"/>
            </a:lvl6pPr>
            <a:lvl7pPr marL="3422142" indent="0">
              <a:buNone/>
              <a:defRPr sz="2000" b="1"/>
            </a:lvl7pPr>
            <a:lvl8pPr marL="3992499" indent="0">
              <a:buNone/>
              <a:defRPr sz="2000" b="1"/>
            </a:lvl8pPr>
            <a:lvl9pPr marL="4562856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2" y="2175379"/>
            <a:ext cx="5388332" cy="3952203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3" y="273114"/>
            <a:ext cx="4010562" cy="116231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114" y="273115"/>
            <a:ext cx="6814781" cy="5854468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23" y="1435434"/>
            <a:ext cx="4010562" cy="4692149"/>
          </a:xfrm>
        </p:spPr>
        <p:txBody>
          <a:bodyPr/>
          <a:lstStyle>
            <a:lvl1pPr marL="0" indent="0">
              <a:buNone/>
              <a:defRPr sz="1700"/>
            </a:lvl1pPr>
            <a:lvl2pPr marL="570357" indent="0">
              <a:buNone/>
              <a:defRPr sz="1500"/>
            </a:lvl2pPr>
            <a:lvl3pPr marL="1140714" indent="0">
              <a:buNone/>
              <a:defRPr sz="1200"/>
            </a:lvl3pPr>
            <a:lvl4pPr marL="1711071" indent="0">
              <a:buNone/>
              <a:defRPr sz="1100"/>
            </a:lvl4pPr>
            <a:lvl5pPr marL="2281428" indent="0">
              <a:buNone/>
              <a:defRPr sz="1100"/>
            </a:lvl5pPr>
            <a:lvl6pPr marL="2851785" indent="0">
              <a:buNone/>
              <a:defRPr sz="1100"/>
            </a:lvl6pPr>
            <a:lvl7pPr marL="3422142" indent="0">
              <a:buNone/>
              <a:defRPr sz="1100"/>
            </a:lvl7pPr>
            <a:lvl8pPr marL="3992499" indent="0">
              <a:buNone/>
              <a:defRPr sz="1100"/>
            </a:lvl8pPr>
            <a:lvl9pPr marL="4562856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06" y="4801713"/>
            <a:ext cx="7314248" cy="56686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06" y="612916"/>
            <a:ext cx="7314248" cy="4115753"/>
          </a:xfrm>
        </p:spPr>
        <p:txBody>
          <a:bodyPr/>
          <a:lstStyle>
            <a:lvl1pPr marL="0" indent="0">
              <a:buNone/>
              <a:defRPr sz="4000"/>
            </a:lvl1pPr>
            <a:lvl2pPr marL="570357" indent="0">
              <a:buNone/>
              <a:defRPr sz="3500"/>
            </a:lvl2pPr>
            <a:lvl3pPr marL="1140714" indent="0">
              <a:buNone/>
              <a:defRPr sz="3000"/>
            </a:lvl3pPr>
            <a:lvl4pPr marL="1711071" indent="0">
              <a:buNone/>
              <a:defRPr sz="2500"/>
            </a:lvl4pPr>
            <a:lvl5pPr marL="2281428" indent="0">
              <a:buNone/>
              <a:defRPr sz="2500"/>
            </a:lvl5pPr>
            <a:lvl6pPr marL="2851785" indent="0">
              <a:buNone/>
              <a:defRPr sz="2500"/>
            </a:lvl6pPr>
            <a:lvl7pPr marL="3422142" indent="0">
              <a:buNone/>
              <a:defRPr sz="2500"/>
            </a:lvl7pPr>
            <a:lvl8pPr marL="3992499" indent="0">
              <a:buNone/>
              <a:defRPr sz="2500"/>
            </a:lvl8pPr>
            <a:lvl9pPr marL="4562856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06" y="5368582"/>
            <a:ext cx="7314248" cy="805048"/>
          </a:xfrm>
        </p:spPr>
        <p:txBody>
          <a:bodyPr/>
          <a:lstStyle>
            <a:lvl1pPr marL="0" indent="0">
              <a:buNone/>
              <a:defRPr sz="1700"/>
            </a:lvl1pPr>
            <a:lvl2pPr marL="570357" indent="0">
              <a:buNone/>
              <a:defRPr sz="1500"/>
            </a:lvl2pPr>
            <a:lvl3pPr marL="1140714" indent="0">
              <a:buNone/>
              <a:defRPr sz="1200"/>
            </a:lvl3pPr>
            <a:lvl4pPr marL="1711071" indent="0">
              <a:buNone/>
              <a:defRPr sz="1100"/>
            </a:lvl4pPr>
            <a:lvl5pPr marL="2281428" indent="0">
              <a:buNone/>
              <a:defRPr sz="1100"/>
            </a:lvl5pPr>
            <a:lvl6pPr marL="2851785" indent="0">
              <a:buNone/>
              <a:defRPr sz="1100"/>
            </a:lvl6pPr>
            <a:lvl7pPr marL="3422142" indent="0">
              <a:buNone/>
              <a:defRPr sz="1100"/>
            </a:lvl7pPr>
            <a:lvl8pPr marL="3992499" indent="0">
              <a:buNone/>
              <a:defRPr sz="1100"/>
            </a:lvl8pPr>
            <a:lvl9pPr marL="4562856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050" y="274703"/>
            <a:ext cx="2742843" cy="5852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22" y="274703"/>
            <a:ext cx="8025355" cy="5852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</p:spPr>
        <p:txBody>
          <a:bodyPr vert="horz" lIns="114071" tIns="57036" rIns="114071" bIns="5703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527011"/>
          </a:xfrm>
          <a:prstGeom prst="rect">
            <a:avLst/>
          </a:prstGeom>
        </p:spPr>
        <p:txBody>
          <a:bodyPr vert="horz" lIns="114071" tIns="57036" rIns="114071" bIns="5703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7823"/>
            <a:ext cx="2844430" cy="365209"/>
          </a:xfrm>
          <a:prstGeom prst="rect">
            <a:avLst/>
          </a:prstGeom>
        </p:spPr>
        <p:txBody>
          <a:bodyPr vert="horz" lIns="114071" tIns="57036" rIns="114071" bIns="57036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624B6-0C54-4927-9615-71EB42F45B3A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57823"/>
            <a:ext cx="3860297" cy="365209"/>
          </a:xfrm>
          <a:prstGeom prst="rect">
            <a:avLst/>
          </a:prstGeom>
        </p:spPr>
        <p:txBody>
          <a:bodyPr vert="horz" lIns="114071" tIns="57036" rIns="114071" bIns="57036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7823"/>
            <a:ext cx="2844430" cy="365209"/>
          </a:xfrm>
          <a:prstGeom prst="rect">
            <a:avLst/>
          </a:prstGeom>
        </p:spPr>
        <p:txBody>
          <a:bodyPr vert="horz" lIns="114071" tIns="57036" rIns="114071" bIns="57036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73BCC-D8D3-4539-ABA0-E1551A2D6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1140714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7768" indent="-427768" algn="l" defTabSz="1140714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26830" indent="-356473" algn="l" defTabSz="1140714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25893" indent="-285179" algn="l" defTabSz="1140714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1996250" indent="-285179" algn="l" defTabSz="1140714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6607" indent="-285179" algn="l" defTabSz="1140714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36964" indent="-285179" algn="l" defTabSz="1140714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07321" indent="-285179" algn="l" defTabSz="1140714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77678" indent="-285179" algn="l" defTabSz="1140714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48035" indent="-285179" algn="l" defTabSz="1140714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071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357" algn="l" defTabSz="114071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0714" algn="l" defTabSz="114071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1071" algn="l" defTabSz="114071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1428" algn="l" defTabSz="114071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1785" algn="l" defTabSz="114071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2142" algn="l" defTabSz="114071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2499" algn="l" defTabSz="114071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2856" algn="l" defTabSz="114071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8702" y="1773610"/>
            <a:ext cx="8533289" cy="1543623"/>
          </a:xfrm>
        </p:spPr>
        <p:txBody>
          <a:bodyPr>
            <a:normAutofit/>
          </a:bodyPr>
          <a:lstStyle/>
          <a:p>
            <a:r>
              <a:rPr lang="en-IN" b="1" dirty="0"/>
              <a:t>ONLINE VEHICLE PARKING RESERVATION SYSTEM</a:t>
            </a:r>
            <a:endParaRPr lang="en-US" sz="4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333295" y="1643431"/>
            <a:ext cx="9619066" cy="1589"/>
          </a:xfrm>
          <a:prstGeom prst="line">
            <a:avLst/>
          </a:prstGeom>
          <a:ln w="127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8016899-E3C6-93B0-43D6-9F22436D1BC4}"/>
              </a:ext>
            </a:extLst>
          </p:cNvPr>
          <p:cNvSpPr txBox="1"/>
          <p:nvPr/>
        </p:nvSpPr>
        <p:spPr>
          <a:xfrm>
            <a:off x="4222998" y="3306348"/>
            <a:ext cx="35689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M.SHRAVYA   -   247R1A0530</a:t>
            </a:r>
          </a:p>
          <a:p>
            <a:r>
              <a:rPr lang="en-US" dirty="0"/>
              <a:t>N.LOKESH       -   247R1A0537</a:t>
            </a:r>
          </a:p>
          <a:p>
            <a:r>
              <a:rPr lang="en-US" dirty="0"/>
              <a:t>N.KAUSHIK     -    247R1A0539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59BBE-0B9E-70F4-644C-B580F3306AB1}"/>
              </a:ext>
            </a:extLst>
          </p:cNvPr>
          <p:cNvSpPr txBox="1"/>
          <p:nvPr/>
        </p:nvSpPr>
        <p:spPr>
          <a:xfrm>
            <a:off x="4113009" y="4725938"/>
            <a:ext cx="37036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   </a:t>
            </a:r>
            <a:r>
              <a:rPr lang="en-US" b="1" dirty="0">
                <a:solidFill>
                  <a:srgbClr val="00B050"/>
                </a:solidFill>
              </a:rPr>
              <a:t>UNDER THE GUIDANCE OF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Mr.SVSV</a:t>
            </a:r>
            <a:r>
              <a:rPr lang="en-US" b="1" dirty="0">
                <a:solidFill>
                  <a:srgbClr val="FF0000"/>
                </a:solidFill>
              </a:rPr>
              <a:t> PRASAD SANABOINA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E0711-02CD-B143-D5D8-6954E61556EF}"/>
              </a:ext>
            </a:extLst>
          </p:cNvPr>
          <p:cNvSpPr txBox="1"/>
          <p:nvPr/>
        </p:nvSpPr>
        <p:spPr>
          <a:xfrm>
            <a:off x="4630563" y="5495379"/>
            <a:ext cx="2389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ASSISTANT PROFESSOR</a:t>
            </a:r>
            <a:endParaRPr lang="en-IN" sz="1800" b="1" dirty="0"/>
          </a:p>
        </p:txBody>
      </p:sp>
      <p:sp>
        <p:nvSpPr>
          <p:cNvPr id="6" name="AutoShape 2" descr="Guest House - CMRTC">
            <a:extLst>
              <a:ext uri="{FF2B5EF4-FFF2-40B4-BE49-F238E27FC236}">
                <a16:creationId xmlns:a16="http://schemas.microsoft.com/office/drawing/2014/main" id="{DD464A74-45D0-01AA-CB25-9621A72FC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4" descr="Guest House - CMRTC">
            <a:extLst>
              <a:ext uri="{FF2B5EF4-FFF2-40B4-BE49-F238E27FC236}">
                <a16:creationId xmlns:a16="http://schemas.microsoft.com/office/drawing/2014/main" id="{2649DA4D-04A1-F528-3B63-4EC6E4523B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6" descr="Guest House - CMRTC">
            <a:extLst>
              <a:ext uri="{FF2B5EF4-FFF2-40B4-BE49-F238E27FC236}">
                <a16:creationId xmlns:a16="http://schemas.microsoft.com/office/drawing/2014/main" id="{83497BFD-0F33-7952-2730-3834C48D54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6813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8" descr="Guest House - CMRTC">
            <a:extLst>
              <a:ext uri="{FF2B5EF4-FFF2-40B4-BE49-F238E27FC236}">
                <a16:creationId xmlns:a16="http://schemas.microsoft.com/office/drawing/2014/main" id="{EC4916AF-CDCE-DB0F-9F61-7EBC6D493F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99213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Guest House - CMRTC">
            <a:extLst>
              <a:ext uri="{FF2B5EF4-FFF2-40B4-BE49-F238E27FC236}">
                <a16:creationId xmlns:a16="http://schemas.microsoft.com/office/drawing/2014/main" id="{70CC7967-2A39-EE41-D4FB-567929115E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6813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Guest House - CMRTC">
            <a:extLst>
              <a:ext uri="{FF2B5EF4-FFF2-40B4-BE49-F238E27FC236}">
                <a16:creationId xmlns:a16="http://schemas.microsoft.com/office/drawing/2014/main" id="{11C3D576-393C-F9CF-5949-9289A431FC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99213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8" descr="Guest House - CMRTC">
            <a:extLst>
              <a:ext uri="{FF2B5EF4-FFF2-40B4-BE49-F238E27FC236}">
                <a16:creationId xmlns:a16="http://schemas.microsoft.com/office/drawing/2014/main" id="{2F78EFCC-926B-0BFF-BDB6-EB10C1AC97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1613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4" descr="Guest House - CMRTC">
            <a:extLst>
              <a:ext uri="{FF2B5EF4-FFF2-40B4-BE49-F238E27FC236}">
                <a16:creationId xmlns:a16="http://schemas.microsoft.com/office/drawing/2014/main" id="{59FE06EE-848A-0C7E-6C78-D69918A7B7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99213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AutoShape 6" descr="Guest House - CMRTC">
            <a:extLst>
              <a:ext uri="{FF2B5EF4-FFF2-40B4-BE49-F238E27FC236}">
                <a16:creationId xmlns:a16="http://schemas.microsoft.com/office/drawing/2014/main" id="{279A85E4-BE8C-E573-532D-A009B9956D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1613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AutoShape 8" descr="Guest House - CMRTC">
            <a:extLst>
              <a:ext uri="{FF2B5EF4-FFF2-40B4-BE49-F238E27FC236}">
                <a16:creationId xmlns:a16="http://schemas.microsoft.com/office/drawing/2014/main" id="{19D2E4E5-DB53-E2CA-ACF5-A48DA80A2C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4013" y="4038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4" descr="Guest House - CMRTC">
            <a:extLst>
              <a:ext uri="{FF2B5EF4-FFF2-40B4-BE49-F238E27FC236}">
                <a16:creationId xmlns:a16="http://schemas.microsoft.com/office/drawing/2014/main" id="{0908FC98-6B49-70F9-A68F-EE928AFA2C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1613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6" descr="Guest House - CMRTC">
            <a:extLst>
              <a:ext uri="{FF2B5EF4-FFF2-40B4-BE49-F238E27FC236}">
                <a16:creationId xmlns:a16="http://schemas.microsoft.com/office/drawing/2014/main" id="{339156D7-9F33-9C25-00BC-607F1777F0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4013" y="4038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AutoShape 8" descr="Guest House - CMRTC">
            <a:extLst>
              <a:ext uri="{FF2B5EF4-FFF2-40B4-BE49-F238E27FC236}">
                <a16:creationId xmlns:a16="http://schemas.microsoft.com/office/drawing/2014/main" id="{8E5585D0-E4B7-569F-C1E0-429F6204A3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56413" y="419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AutoShape 4" descr="Guest House - CMRTC">
            <a:extLst>
              <a:ext uri="{FF2B5EF4-FFF2-40B4-BE49-F238E27FC236}">
                <a16:creationId xmlns:a16="http://schemas.microsoft.com/office/drawing/2014/main" id="{60F90769-8020-832B-ED59-69A17D28BF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4013" y="4038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AutoShape 6" descr="Guest House - CMRTC">
            <a:extLst>
              <a:ext uri="{FF2B5EF4-FFF2-40B4-BE49-F238E27FC236}">
                <a16:creationId xmlns:a16="http://schemas.microsoft.com/office/drawing/2014/main" id="{60147304-8772-1E96-C6D8-0FC53F0956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56413" y="419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AutoShape 8" descr="Guest House - CMRTC">
            <a:extLst>
              <a:ext uri="{FF2B5EF4-FFF2-40B4-BE49-F238E27FC236}">
                <a16:creationId xmlns:a16="http://schemas.microsoft.com/office/drawing/2014/main" id="{97176987-66B8-6756-350A-3D8FEC7A1E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4343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4" name="Picture 10" descr="Guest House - CMRTC">
            <a:extLst>
              <a:ext uri="{FF2B5EF4-FFF2-40B4-BE49-F238E27FC236}">
                <a16:creationId xmlns:a16="http://schemas.microsoft.com/office/drawing/2014/main" id="{D641C87A-A877-DDF6-86D3-357B0E852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662" y="119015"/>
            <a:ext cx="9753699" cy="118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232ED-AD26-4849-BDAA-9243240B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418" y="117426"/>
            <a:ext cx="5714788" cy="72678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2FBE64-DA9D-B1CC-1775-911611F43018}"/>
              </a:ext>
            </a:extLst>
          </p:cNvPr>
          <p:cNvSpPr txBox="1"/>
          <p:nvPr/>
        </p:nvSpPr>
        <p:spPr>
          <a:xfrm>
            <a:off x="838622" y="826026"/>
            <a:ext cx="595798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Introduction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Abstract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Problem statement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Existing system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Proposed system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Advantages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Disadvantages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Software and hardware requirements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System architecture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Novelty of the project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Modules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UML diagrams(use case </a:t>
            </a:r>
            <a:r>
              <a:rPr lang="en-US" dirty="0" err="1"/>
              <a:t>diagrams,class</a:t>
            </a:r>
            <a:r>
              <a:rPr lang="en-US" dirty="0"/>
              <a:t> </a:t>
            </a:r>
            <a:r>
              <a:rPr lang="en-US" dirty="0" err="1"/>
              <a:t>diagrams,sequence</a:t>
            </a:r>
            <a:r>
              <a:rPr lang="en-US" dirty="0"/>
              <a:t> diagrams)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 source code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Result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Conclusion and Future Enhancement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References</a:t>
            </a:r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09794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B1B1-3435-8AA7-125C-4A02679BE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98" y="-1"/>
            <a:ext cx="3050492" cy="608121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D19F31-3732-0742-F1ED-E785F54B8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630" y="304059"/>
            <a:ext cx="834876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Parking problems are increasing in cities due to more vehicles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Traditional parking is slow and inefficient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This system allows users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Check parking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Book slots online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Make payments easily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Helps reduce time, traffic, and pollution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Provides real-time updates and smart management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E3E02D-0D06-C772-4184-C54AB3F868F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0630" y="3213770"/>
            <a:ext cx="1250391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increase in vehicles causes parking issues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Proposed system provides: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Real-time slot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Online booking and payment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Reduces traffic congestion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Saves time and fuel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Improves user convenience </a:t>
            </a:r>
          </a:p>
        </p:txBody>
      </p:sp>
    </p:spTree>
    <p:extLst>
      <p:ext uri="{BB962C8B-B14F-4D97-AF65-F5344CB8AC3E}">
        <p14:creationId xmlns:p14="http://schemas.microsoft.com/office/powerpoint/2010/main" val="12224140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DB2A-46A6-25C3-90D3-E3EFCC001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98" y="765498"/>
            <a:ext cx="4464496" cy="850837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3DD152-A632-0E20-54B4-19357210E98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26654" y="1476286"/>
            <a:ext cx="1142379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areas face serious parking problems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Drivers waste time searching for parking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Leads to pollution and frustration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Need for smart parking solution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System allows: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Easy booking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Navigation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Quick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5699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71AA1-AA06-00EB-C554-AFEC07FC7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21" y="405458"/>
            <a:ext cx="4549583" cy="547043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4C6E2-A3E6-1876-DED1-A174BF922B8A}"/>
              </a:ext>
            </a:extLst>
          </p:cNvPr>
          <p:cNvSpPr txBox="1"/>
          <p:nvPr/>
        </p:nvSpPr>
        <p:spPr>
          <a:xfrm>
            <a:off x="644588" y="1197546"/>
            <a:ext cx="8305378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Rapid increase in vehicles creates parking shortage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Drivers spend a lot of time searching for parking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Traditional systems are: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 real-time information about available slots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Causes: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wastage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Lack of online booking and automation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Need for a smart and efficient parking solution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247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F77C-BC3D-64C2-7B85-9D33E6EB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614" y="693490"/>
            <a:ext cx="4791081" cy="56720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96C84C8-261A-6E33-2130-34E808C2BB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0289" y="1536968"/>
            <a:ext cx="1214387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Parking is mostly managed manually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Drivers search for parking spaces physically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No proper system to track available slots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Some places use basic ticket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No real-time updates on slot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No mobile or web-based booking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Limited use of modern technologies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No proper monitoring or data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Difficult for users during peak hours </a:t>
            </a:r>
          </a:p>
        </p:txBody>
      </p:sp>
    </p:spTree>
    <p:extLst>
      <p:ext uri="{BB962C8B-B14F-4D97-AF65-F5344CB8AC3E}">
        <p14:creationId xmlns:p14="http://schemas.microsoft.com/office/powerpoint/2010/main" val="199310875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6A8C-51EF-9CA7-753A-845578730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06" y="431000"/>
            <a:ext cx="4202620" cy="602008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380786-41C6-4A41-C759-84A24FAF7FFB}"/>
              </a:ext>
            </a:extLst>
          </p:cNvPr>
          <p:cNvSpPr txBox="1"/>
          <p:nvPr/>
        </p:nvSpPr>
        <p:spPr>
          <a:xfrm>
            <a:off x="910630" y="1413570"/>
            <a:ext cx="107291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User-Friendly Platform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Web and mobile apps allowing easy search and reservation of parking spaces.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Real-Time Availability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Dynamic updates to show current parking spot status using database management.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Secure Payment Integration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Multiple payment options for hassle-free booking transactions.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Automated Booking Confirmation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Instant notifications and reminders for booked parking spots.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Admin Dashboard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Efficient management of parking spaces, bookings, and user data.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Scalable Architecture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Designed to handle growing user base and parking locations seamlessly.</a:t>
            </a:r>
          </a:p>
        </p:txBody>
      </p:sp>
    </p:spTree>
    <p:extLst>
      <p:ext uri="{BB962C8B-B14F-4D97-AF65-F5344CB8AC3E}">
        <p14:creationId xmlns:p14="http://schemas.microsoft.com/office/powerpoint/2010/main" val="28012872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566" y="765498"/>
            <a:ext cx="4752528" cy="1143265"/>
          </a:xfrm>
        </p:spPr>
        <p:txBody>
          <a:bodyPr>
            <a:noAutofit/>
          </a:bodyPr>
          <a:lstStyle/>
          <a:p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ODULES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606" y="2493690"/>
            <a:ext cx="10971372" cy="2736304"/>
          </a:xfrm>
        </p:spPr>
        <p:txBody>
          <a:bodyPr>
            <a:no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 – Register, login, search available parking slots, and book spaces.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Management Module – Manage parking locations, slots, and availability.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Module – Handle slot reservation, confirmation, and booking history.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Module – Secure online payment for parking reservations.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 – Monitor users, manage parking spaces, and view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E5D214-A0A2-94A2-D25A-BD23EA9884BB}"/>
              </a:ext>
            </a:extLst>
          </p:cNvPr>
          <p:cNvSpPr txBox="1"/>
          <p:nvPr/>
        </p:nvSpPr>
        <p:spPr>
          <a:xfrm>
            <a:off x="910630" y="621482"/>
            <a:ext cx="9001000" cy="4762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Requirements: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Hardware Requirements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IN" dirty="0"/>
              <a:t>System		 : Pentium IV 2.4 GHz.</a:t>
            </a:r>
          </a:p>
          <a:p>
            <a:r>
              <a:rPr lang="en-IN" dirty="0"/>
              <a:t>Hard Disk        	: 40 GB.</a:t>
            </a:r>
          </a:p>
          <a:p>
            <a:r>
              <a:rPr lang="en-IN" dirty="0"/>
              <a:t>Ram		: 512 Mb.</a:t>
            </a:r>
          </a:p>
          <a:p>
            <a:r>
              <a:rPr lang="en-IN" dirty="0"/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Requirements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/>
              <a:t>Operating system 	:  Windows.</a:t>
            </a:r>
          </a:p>
          <a:p>
            <a:r>
              <a:rPr lang="en-IN" dirty="0"/>
              <a:t>Coding Language	:  python.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89781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F3264-A696-C6BE-F9C9-631AEA319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21" y="274701"/>
            <a:ext cx="10971372" cy="418789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he Web-based Smart Parking System at best price in Noida by Ajeevi ...">
            <a:extLst>
              <a:ext uri="{FF2B5EF4-FFF2-40B4-BE49-F238E27FC236}">
                <a16:creationId xmlns:a16="http://schemas.microsoft.com/office/drawing/2014/main" id="{4181BB51-504C-BFD2-732D-AB3A87CD7D3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6614" y="909514"/>
            <a:ext cx="4752528" cy="331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A421C0-3FC6-D6D5-B3AD-59CAA3BBD18D}"/>
              </a:ext>
            </a:extLst>
          </p:cNvPr>
          <p:cNvSpPr txBox="1"/>
          <p:nvPr/>
        </p:nvSpPr>
        <p:spPr>
          <a:xfrm>
            <a:off x="609520" y="4365898"/>
            <a:ext cx="1124632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divided into main components: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(Frontend) -Used for booking and payments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Server (Backend) – Handles user requests and process booking and payments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–stores user details and stores booking and parking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(Sensors) – detect parking slot availability</a:t>
            </a:r>
          </a:p>
        </p:txBody>
      </p:sp>
    </p:spTree>
    <p:extLst>
      <p:ext uri="{BB962C8B-B14F-4D97-AF65-F5344CB8AC3E}">
        <p14:creationId xmlns:p14="http://schemas.microsoft.com/office/powerpoint/2010/main" val="151813963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51736" y="500836"/>
            <a:ext cx="5715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USECASE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DIAGRAM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en-US" sz="2400" b="1" i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413" name="Rectangle 221"/>
          <p:cNvSpPr>
            <a:spLocks noChangeArrowheads="1"/>
          </p:cNvSpPr>
          <p:nvPr/>
        </p:nvSpPr>
        <p:spPr bwMode="auto">
          <a:xfrm>
            <a:off x="0" y="0"/>
            <a:ext cx="1219041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598" y="1557586"/>
            <a:ext cx="11161240" cy="504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08926" y="572274"/>
            <a:ext cx="64843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CLASS DIAGRAM </a:t>
            </a:r>
            <a:endParaRPr lang="en-US" sz="2800" dirty="0"/>
          </a:p>
        </p:txBody>
      </p:sp>
      <p:sp>
        <p:nvSpPr>
          <p:cNvPr id="7222" name="Rectangle 54"/>
          <p:cNvSpPr>
            <a:spLocks noChangeArrowheads="1"/>
          </p:cNvSpPr>
          <p:nvPr/>
        </p:nvSpPr>
        <p:spPr bwMode="auto">
          <a:xfrm>
            <a:off x="0" y="0"/>
            <a:ext cx="1219041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2638" y="1810533"/>
            <a:ext cx="10657184" cy="4476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308860" y="429398"/>
            <a:ext cx="4143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SEQUENCE DIAGRAM</a:t>
            </a:r>
          </a:p>
        </p:txBody>
      </p:sp>
      <p:sp>
        <p:nvSpPr>
          <p:cNvPr id="6265" name="Rectangle 121"/>
          <p:cNvSpPr>
            <a:spLocks noChangeArrowheads="1"/>
          </p:cNvSpPr>
          <p:nvPr/>
        </p:nvSpPr>
        <p:spPr bwMode="auto">
          <a:xfrm>
            <a:off x="0" y="0"/>
            <a:ext cx="1219041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0630" y="1467171"/>
            <a:ext cx="10225136" cy="522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14686" y="582860"/>
            <a:ext cx="81861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DisAdvantages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of Existing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86205F-4D00-4DFD-FA3D-451CF6F8460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58702" y="1352302"/>
            <a:ext cx="1149580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Time-consuming process to find parking spaces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No real-time information about slot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Drivers must search manually for parking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Leads to high fuel consumption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Causes traffic congestion in busy areas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No option for online booking or reservation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Lack of automation and smart technology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Higher chances of human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Limited user convenience and accessibility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No proper data management or analysis 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2638" y="345121"/>
            <a:ext cx="914406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Advantages of Existing system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70670" y="1605431"/>
            <a:ext cx="102156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Convenience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Users can book parking spots remotely, saving time and effort.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Time-Saving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Reduces the need to search for parking, minimizing delays and frustration.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Traffic Reduction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Decreases congestion caused by vehicles circling for parking spaces.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Real-Time Updates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Provides accurate, up-to-date information on parking availability.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Secure Payments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Supports integrated payment gateways for seamless transactions.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Efficient Management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Enables better utilization of parking spaces through admin controls.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2B6AC3-BC97-D8BD-0A9D-DE95F6043A31}"/>
              </a:ext>
            </a:extLst>
          </p:cNvPr>
          <p:cNvSpPr txBox="1"/>
          <p:nvPr/>
        </p:nvSpPr>
        <p:spPr>
          <a:xfrm>
            <a:off x="2422798" y="621482"/>
            <a:ext cx="6498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PROJECT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BE0CB-976F-EF26-3007-66959700BBF8}"/>
              </a:ext>
            </a:extLst>
          </p:cNvPr>
          <p:cNvSpPr txBox="1"/>
          <p:nvPr/>
        </p:nvSpPr>
        <p:spPr>
          <a:xfrm>
            <a:off x="1927829" y="1989634"/>
            <a:ext cx="74888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Provides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parking availability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smart     technologies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Enables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 booking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parking slots from anywhere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Integrates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slot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navigation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guide users to parking 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Supports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transactions </a:t>
            </a:r>
          </a:p>
        </p:txBody>
      </p:sp>
    </p:spTree>
    <p:extLst>
      <p:ext uri="{BB962C8B-B14F-4D97-AF65-F5344CB8AC3E}">
        <p14:creationId xmlns:p14="http://schemas.microsoft.com/office/powerpoint/2010/main" val="25682616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C0BEC3-9E84-A298-D6EF-9532B3900FA4}"/>
              </a:ext>
            </a:extLst>
          </p:cNvPr>
          <p:cNvSpPr txBox="1"/>
          <p:nvPr/>
        </p:nvSpPr>
        <p:spPr>
          <a:xfrm>
            <a:off x="766614" y="333450"/>
            <a:ext cx="3023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414D3-55E6-8BB0-685D-5B42017E6CD3}"/>
              </a:ext>
            </a:extLst>
          </p:cNvPr>
          <p:cNvSpPr txBox="1"/>
          <p:nvPr/>
        </p:nvSpPr>
        <p:spPr>
          <a:xfrm>
            <a:off x="694606" y="1125538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flask import Flask,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render_template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request, redirect,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url_for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= Flask(__name__)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Sample parking slots (0 = free, 1 = booked)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parking_slots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[0, 0, 0, 0, 0]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Home Page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@app.route('/')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home():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render_template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('index.html', slots=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parking_slots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9AA20-87E8-5CD7-0CFC-6DC0A8C0F4DA}"/>
              </a:ext>
            </a:extLst>
          </p:cNvPr>
          <p:cNvSpPr txBox="1"/>
          <p:nvPr/>
        </p:nvSpPr>
        <p:spPr>
          <a:xfrm>
            <a:off x="7103318" y="788748"/>
            <a:ext cx="6096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Book Slot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@app.route('/book/&lt;int:slot_id&gt;')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book(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parking_slots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== 0: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parking_slots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redirect(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url_for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('home'))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Release Slot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@app.route('/release/&lt;int:slot_id&gt;')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release(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parking_slots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redirect(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url_for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('home'))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'__main__':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app.run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(debug=True)</a:t>
            </a:r>
          </a:p>
        </p:txBody>
      </p:sp>
    </p:spTree>
    <p:extLst>
      <p:ext uri="{BB962C8B-B14F-4D97-AF65-F5344CB8AC3E}">
        <p14:creationId xmlns:p14="http://schemas.microsoft.com/office/powerpoint/2010/main" val="205596540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0A4391-BA01-90C0-412E-6E7B985D1797}"/>
              </a:ext>
            </a:extLst>
          </p:cNvPr>
          <p:cNvSpPr txBox="1"/>
          <p:nvPr/>
        </p:nvSpPr>
        <p:spPr>
          <a:xfrm>
            <a:off x="1054646" y="549474"/>
            <a:ext cx="20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FILE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86BCC-9214-7AF9-8BC0-9607AD61CB08}"/>
              </a:ext>
            </a:extLst>
          </p:cNvPr>
          <p:cNvSpPr txBox="1"/>
          <p:nvPr/>
        </p:nvSpPr>
        <p:spPr>
          <a:xfrm>
            <a:off x="1041409" y="141357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&lt;title&gt;Parking System&lt;/title&gt;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&lt;h2&gt;Online Parking Reservation&lt;/h2&gt;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&lt;table border="1"&gt;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&lt;tr&gt;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&gt;Slot&lt;/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&gt;Status&lt;/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&gt;Action&lt;/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&lt;/tr&gt;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FD24AE-9B5A-2C2F-E9EB-DE3299CE04D3}"/>
              </a:ext>
            </a:extLst>
          </p:cNvPr>
          <p:cNvSpPr txBox="1"/>
          <p:nvPr/>
        </p:nvSpPr>
        <p:spPr>
          <a:xfrm>
            <a:off x="6939702" y="396280"/>
            <a:ext cx="1050142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for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slots|length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%}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&lt;tr&gt;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&lt;td&gt;{{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}}&lt;/td&gt;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&lt;td&gt;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if slots[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== 0 %}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else %}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Booked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endif %}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&lt;td&gt;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if slots[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== 0 %}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="/book/{{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}}"&gt;Book&lt;/a&gt;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else %}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="/release/{{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}}"&gt;Release&lt;/a&gt;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endif %}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&lt;/tr&gt;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{%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endfor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&lt;/table&gt;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5889472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1BBF55-784F-1C82-F4BB-7125283A4B0B}"/>
              </a:ext>
            </a:extLst>
          </p:cNvPr>
          <p:cNvSpPr txBox="1"/>
          <p:nvPr/>
        </p:nvSpPr>
        <p:spPr>
          <a:xfrm>
            <a:off x="1270670" y="333450"/>
            <a:ext cx="25790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A6CE0-1581-FC69-77FA-C21BDDBA4D4A}"/>
              </a:ext>
            </a:extLst>
          </p:cNvPr>
          <p:cNvSpPr txBox="1"/>
          <p:nvPr/>
        </p:nvSpPr>
        <p:spPr>
          <a:xfrm>
            <a:off x="1270670" y="119754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system was successfully developed and tested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Users can: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available parking slots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and release slots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Real-time slot updates are working properly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Payment process is completed successfully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09727-57B8-283D-30A8-61C1F4366C0A}"/>
              </a:ext>
            </a:extLst>
          </p:cNvPr>
          <p:cNvSpPr txBox="1"/>
          <p:nvPr/>
        </p:nvSpPr>
        <p:spPr>
          <a:xfrm>
            <a:off x="1270670" y="4345643"/>
            <a:ext cx="60960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Reduced time to find parking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Improved user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Efficient parking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System meets all project requirements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22982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654" y="837506"/>
            <a:ext cx="3181430" cy="513549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E1EAB-41FC-DDDB-77B8-C15B08494D8B}"/>
              </a:ext>
            </a:extLst>
          </p:cNvPr>
          <p:cNvSpPr txBox="1"/>
          <p:nvPr/>
        </p:nvSpPr>
        <p:spPr>
          <a:xfrm>
            <a:off x="910630" y="1917626"/>
            <a:ext cx="80173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system provides a smart solution for parking problems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Helps users find and book parking easily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Reduces time, fuel usage, and stress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Minimizes traffic congestion and pollution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Improves efficiency of parking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Easy to use and user-friendly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Supports digital and smart city development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364" y="881382"/>
            <a:ext cx="6048672" cy="1143265"/>
          </a:xfrm>
        </p:spPr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UTURE ENHANCEMENT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09C8A0A-A37C-8B89-02AC-AF3F7A1A8B0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0590" y="1989634"/>
            <a:ext cx="1178383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Add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AI/ML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predict parking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IoT sensors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Implement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or biometric login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Add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 support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easy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Integrate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Maps for better navigation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Support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cities and large-scale deployment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Enhance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data protection 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A9D1-1E85-C37C-5D0C-6D99476FA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6694" y="263105"/>
            <a:ext cx="2749382" cy="652468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5BDE3-DADB-EA02-7637-AC391595C727}"/>
              </a:ext>
            </a:extLst>
          </p:cNvPr>
          <p:cNvSpPr txBox="1"/>
          <p:nvPr/>
        </p:nvSpPr>
        <p:spPr>
          <a:xfrm>
            <a:off x="1342678" y="1241171"/>
            <a:ext cx="693722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Smith, J., &amp; Kumar, A. (2020)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Parking Systems: Technologies and Applications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Intelligent Transportation Systems </a:t>
            </a:r>
          </a:p>
          <a:p>
            <a:pPr>
              <a:buFont typeface="+mj-lt"/>
              <a:buAutoNum type="arabicPeriod" startAt="2"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L., &amp; Zhang, H. (2019)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Real-Time Parking Management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+mj-lt"/>
              <a:buAutoNum type="arabicPeriod" startAt="2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Internet of Things Journal </a:t>
            </a:r>
          </a:p>
          <a:p>
            <a:pPr>
              <a:buFont typeface="+mj-lt"/>
              <a:buAutoNum type="arabicPeriod" startAt="3"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R., &amp; Joshi, M. (2021)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Vehicle Parking Reservation System using Cloud Computing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+mj-lt"/>
              <a:buAutoNum type="arabicPeriod" startAt="3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Computer Networks and Communications </a:t>
            </a:r>
          </a:p>
          <a:p>
            <a:pPr>
              <a:buFont typeface="+mj-lt"/>
              <a:buAutoNum type="arabicPeriod" startAt="4"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Gupta, S., &amp; Singh, R. (2018)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Integration in Online Reservation Systems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+mj-lt"/>
              <a:buAutoNum type="arabicPeriod" startAt="4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Cybersecurity </a:t>
            </a:r>
          </a:p>
          <a:p>
            <a:pPr>
              <a:buFont typeface="+mj-lt"/>
              <a:buAutoNum type="arabicPeriod" startAt="5"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Rao, P., &amp; Thomas, K. (2017)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 for Smart Parking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Mobile Computing</a:t>
            </a:r>
          </a:p>
        </p:txBody>
      </p:sp>
    </p:spTree>
    <p:extLst>
      <p:ext uri="{BB962C8B-B14F-4D97-AF65-F5344CB8AC3E}">
        <p14:creationId xmlns:p14="http://schemas.microsoft.com/office/powerpoint/2010/main" val="117514276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52341" y="214341"/>
            <a:ext cx="10361851" cy="147036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114071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633979" y="2691701"/>
            <a:ext cx="7048500" cy="1398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0" b="1" spc="5" dirty="0">
                <a:latin typeface="Times New Roman"/>
                <a:cs typeface="Times New Roman"/>
              </a:rPr>
              <a:t>THANK</a:t>
            </a:r>
            <a:r>
              <a:rPr sz="9000" b="1" spc="-100" dirty="0">
                <a:latin typeface="Times New Roman"/>
                <a:cs typeface="Times New Roman"/>
              </a:rPr>
              <a:t> </a:t>
            </a:r>
            <a:r>
              <a:rPr sz="9000" b="1" spc="5" dirty="0">
                <a:latin typeface="Times New Roman"/>
                <a:cs typeface="Times New Roman"/>
              </a:rPr>
              <a:t>YOU</a:t>
            </a:r>
            <a:endParaRPr sz="9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1525</Words>
  <Application>Microsoft Office PowerPoint</Application>
  <PresentationFormat>Custom</PresentationFormat>
  <Paragraphs>185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PowerPoint Presentation</vt:lpstr>
      <vt:lpstr>TABLE OF CONTENTS</vt:lpstr>
      <vt:lpstr>Abstract</vt:lpstr>
      <vt:lpstr>Introduction</vt:lpstr>
      <vt:lpstr>Problem Statement</vt:lpstr>
      <vt:lpstr>Existing System</vt:lpstr>
      <vt:lpstr>Proposed System</vt:lpstr>
      <vt:lpstr>MODULES</vt:lpstr>
      <vt:lpstr>PowerPoint Presentation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ENHANCEMENT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SANA ENGINEERING COLLEGE</dc:title>
  <dc:creator>sandeep</dc:creator>
  <cp:lastModifiedBy>Shravya Madlapelli</cp:lastModifiedBy>
  <cp:revision>55</cp:revision>
  <dcterms:created xsi:type="dcterms:W3CDTF">2025-01-26T05:34:10Z</dcterms:created>
  <dcterms:modified xsi:type="dcterms:W3CDTF">2026-03-28T04:16:31Z</dcterms:modified>
</cp:coreProperties>
</file>